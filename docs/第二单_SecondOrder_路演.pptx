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（0:00–0:20）[停两秒，让大家先看到标题]各位评委好。扫码验茅台真假，大家都会。[停一拍]我们做的这个东西，扫的不是酒，是买家。它叫「第二单」，是给贵州中小酒企外贸专员用的首单决策副驾。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2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（0:20–0:55）先说我们为什么做这个。遵义综合保税区二〇二五年的工作总结里，有一组很诚实的数字：八十九家酒企完成出口备案，三十五家有意向，十一家真的出了海，最后——五家和东南亚经销商「建立初步联系」。转化率百分之五点六。[指最后一级]请注意最后一级的措辞，是「建立初步联系」，不是签约，更不是复购。公开资料在这里就断了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2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3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（0:55–1:20）卡住的地方不在酿酒，在酿完之后。中小酒企没有海外团队。展会散场，业务员手上十几张名片，他真正的问题只有三个：这个买家是真想卖酒，还是在做税差？这瓶酒到他货架上要卖多少钱？第一份合同该写死哪几条？这三个问题，市面上的工具一个都没答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3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4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（1:20–1:55）先说第一个问题，也是最要命的一个。[指瓶子]套利型买家要的，从来不是这瓶酒。白酒出口，消费税百分之二十从价免征，再加增值税退税百分之十三。他要的是这百分之三十三。货囤进自贸仓，转手就走，酒根本没上过货架。[停一拍]而你以为你签下了第一个海外经销商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4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5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（1:55–2:20）判断错了，代价是多少。一柜货值两百六十一万，卖不掉折价倒回国内，亏七十八万。更贵的是——当地价格体系被打乱之后，你再也找不到第二个愿意接的经销商。而这些，你要到九十天之后才会知道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5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6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（2:20–2:45）所以我们做了这个工具。把展会上那段微信对话，原样贴进去。八秒钟，出一份可以直接给老板看的决策简报。[指流程]模型只做一件事：把这段乱七八糟的话读成结构。判定不归它管。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6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7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（2:45–3:10）我们的判定，用一瓶酒来表示。[指两瓶]瓶子永远是满的。变的是里面装什么。左边这瓶装的是酒——他是来买酒的，可以谈。右边这瓶，红的是税差，从瓶底把酒顶上来了。这一瓶，不是酒。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7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8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（3:10–3:35）展开是六个页签，一页回答一个问题。[逐个点]该不该做、凭什么这么判、这瓶酒卖多少钱、他有没有牌照、怎么跟他讲、合同和之后九十天怎么盯。业务员站在展位上，需要的是六个答案，不是一篇报告。[这里切到现场 demo]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8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9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（3:35–4:05）为什么不直接问通用大模型？因为这三条它不会告诉你，是我们逐条翻税则翻出来的：香港烈酒减税，只减两百港币以上的那一部分。新加坡按纯酒精量课税——降度数，等于直接少缴税。美国的 CBMA 额度，必须由中国生产商主动指派，进口商自己拿不到。一瓶差十块七，一柜十几万，不花你一毛钱。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9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0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（4:05–4:30）技术上我们只坚持一件事：规则算账，模型说人话。税则、牌照、风险评分、合同条款，全部是可审计的纯函数，同样输入永远同样输出，每一条都带来源和生效日期。模型只负责它真正擅长的两件事——读懂对话，和写成人话。所以模型挂了，主链路照样跑完。现场断网也能演示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10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1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（4:30–4:48）接下来一百天，第三步是设计来证伪我们自己的：跟三家走完一次首单，拿报关单回来验落地价。误差百分之五以内这工具就能用，差到百分之二十，税则模型就得重做。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11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2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（4:48–5:00）最后一句话。出海不缺第一单。缺的是第二单。货在他仓里没动，他就不会再下单——而你到那时才知道，已经晚了九十天。谢谢。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12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以下不参与五分钟路演。评委提问时直接跳到对应页。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怎么答：不要辩护「我们的数字很准」，直接说「不保证对，保证可查」，然后当场演示 ⓘ 弹出的来源与生效日期。如果被追问日本／欧盟：坦白说没收，因为公开资料表述不够明确，收一条不确定的税率会毁掉整个规则库的可信度。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14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5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怎么答：这题几乎一定会被问。三个字回答——细节、稳定、可追溯。最有杀伤力的是当场对比：让评委用手机问通用模型「白酒出口新加坡税负多少」，多半会得到一个区间；我们给的是按纯酒精量算出来的具体数字，附税则出处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15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6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怎么答：不要硬编商业模式。先承认「现在谈还太早」，再给唯一现实的入口——产区服务平台。如果评委追问「那你们靠什么活」：中小酒企不会为网页付费，会为「少亏一柜」付费，所以第一步是把误差验出来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16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7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怎么答：分两层——官方公开资料（税则牌照）和团队自建数据库（品项与用法，每条标注证据强度）。强调五十六支贵州白酒是逐支核过的，不是抓的。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17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怎么答：承认网页不是终态。但要说清楚为什么先做网页——规则库、信号权重、落地价误差这三件事没验完之前，做成机器人只是把还没校准的答案推给更多人。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怎么答：主动说，不等被问。这一页的作用是把可信度拉起来——一个肯讲自己边界的团队，前面说的话才值得信。最重要的一条是「信号权重还没用真实案例校准」，这也正好是一百天计划的第二步。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19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20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技术选型。如果评委是技术背景，重点讲那条分界线：规则是纯函数、模型只做抽取与措辞。另外可以提「刻意没引入」那一行——不用图表库、不用组件库、不用数据库，税则是编译期常量，比数据库更适合审计与 diff。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20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线上体验可以直接让评委扫码打开自己点。仓库是公开的，Topic 是 #Guikesong。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secondorder-blond.vercel.app" TargetMode="External"/><Relationship Id="rId2" Type="http://schemas.openxmlformats.org/officeDocument/2006/relationships/hyperlink" Target="https://github.com/benrio0923/secondorder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enrio0923-Downloads-guizo/664ecf9b-4026-4233-901a-39b952caf5e2/scratchpad/slides/s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enrio0923-Downloads-guizo/664ecf9b-4026-4233-901a-39b952caf5e2/scratchpad/slides/s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enrio0923-Downloads-guizo/664ecf9b-4026-4233-901a-39b952caf5e2/scratchpad/slides/s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enrio0923-Downloads-guizo/664ecf9b-4026-4233-901a-39b952caf5e2/scratchpad/slides/s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enrio0923-Downloads-guizo/664ecf9b-4026-4233-901a-39b952caf5e2/scratchpad/slides/s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enrio0923-Downloads-guizo/664ecf9b-4026-4233-901a-39b952caf5e2/scratchpad/slides/s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enrio0923-Downloads-guizo/664ecf9b-4026-4233-901a-39b952caf5e2/scratchpad/slides/s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enrio0923-Downloads-guizo/664ecf9b-4026-4233-901a-39b952caf5e2/scratchpad/slides/s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enrio0923-Downloads-guizo/664ecf9b-4026-4233-901a-39b952caf5e2/scratchpad/slides/s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enrio0923-Downloads-guizo/664ecf9b-4026-4233-901a-39b952caf5e2/scratchpad/slides/s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enrio0923-Downloads-guizo/664ecf9b-4026-4233-901a-39b952caf5e2/scratchpad/slides/s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enrio0923-Downloads-guizo/664ecf9b-4026-4233-901a-39b952caf5e2/scratchpad/slides/s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6912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APPENDIX · Q &amp; 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286000"/>
            <a:ext cx="685800" cy="27432"/>
          </a:xfrm>
          <a:prstGeom prst="rect">
            <a:avLst/>
          </a:prstGeom>
          <a:solidFill>
            <a:srgbClr val="C6912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问答与附录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9BB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以下几页不参与五分钟路演，留给评委提问时直接翻。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54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010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税率你怎么保证是对的？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8010144" cy="10973"/>
          </a:xfrm>
          <a:prstGeom prst="rect">
            <a:avLst/>
          </a:prstGeom>
          <a:solidFill>
            <a:srgbClr val="CDC0A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55648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38"/>
              </a:lnSpc>
              <a:buNone/>
            </a:pPr>
            <a:r>
              <a:rPr lang="en-US" sz="1450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不保证「对」，保证「可查」。每一条税率、每一张牌照都在代码里带 source 与 asOf 两个字段，界面上鼠标移到 ⓘ 就能看到出处与生效日期。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633345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64765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全部是纯函数，不经过模型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839085"/>
            <a:ext cx="7772400" cy="339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同样输入永远同样输出，可以逐行覆核。模型算错一个税率就是真金白银的亏损，这部分我们不交给它。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288665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20085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写不确定的，不如不写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494405"/>
            <a:ext cx="7772400" cy="606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日本原本在候选名单里，但公开资料对烈酒税率的表述不够明确，我们宁可不收——收一条不确定的税率，代价是整个规则库的可信度。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4261104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8B7F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目前涵盖香港、新加坡、越南、美国、韩国五个市场。韩国税目为二手来源（产业报导），界面上已标注「建议向韩国国税厅核实」。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8097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7F6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第二单 SecondOrder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54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010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直接问通用大模型不就好了？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8010144" cy="10973"/>
          </a:xfrm>
          <a:prstGeom prst="rect">
            <a:avLst/>
          </a:prstGeom>
          <a:solidFill>
            <a:srgbClr val="CDC0A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55648"/>
            <a:ext cx="8010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88"/>
              </a:lnSpc>
              <a:buNone/>
            </a:pPr>
            <a:r>
              <a:rPr lang="en-US" sz="1250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可以问，也会得到一个听起来很像样的答案。问题出在三个地方，而这三个地方恰好都会出事。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66633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8053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细节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47237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64"/>
              </a:lnSpc>
              <a:buNone/>
            </a:pPr>
            <a:r>
              <a:rPr lang="en-US" sz="10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通用模型多半给你「约 30–50% 综合税负」的区间。我们逐条查出来写死：新加坡按纯酒精量、越南 20 度分界、美国 CBMA 须由生产商指派。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3103309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34729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稳定性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309048"/>
            <a:ext cx="7772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64"/>
              </a:lnSpc>
              <a:buNone/>
            </a:pPr>
            <a:r>
              <a:rPr lang="en-US" sz="10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同一题问两次，数字可能不一样。我们是纯函数计算，同样输入永远同样输出。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715957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47377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可追溯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921696"/>
            <a:ext cx="7772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64"/>
              </a:lnSpc>
              <a:buNone/>
            </a:pPr>
            <a:r>
              <a:rPr lang="en-US" sz="10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通用模型不会告诉你出处与生效日期。我们每条都标了。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4314888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8B7F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我们不是在跟通用模型比谁更会讲话，是把一个垂直领域的规则翻出来、写死、标上出处。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48097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7F6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第二单 SecondOrder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54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010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谁付钱？商业模式是什么？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8010144" cy="10973"/>
          </a:xfrm>
          <a:prstGeom prst="rect">
            <a:avLst/>
          </a:prstGeom>
          <a:solidFill>
            <a:srgbClr val="CDC0A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55648"/>
            <a:ext cx="8010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38"/>
              </a:lnSpc>
              <a:buNone/>
            </a:pPr>
            <a:r>
              <a:rPr lang="en-US" sz="1450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现在谈还太早。先证明它能让 89 家里搭上线的从 5 家变成 10 家，再谈谁付钱。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311083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42503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最现实的入口是产区服务平台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516822"/>
            <a:ext cx="7772400" cy="606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综保区本来就在做外贸陪跑，有预算、有台账、有企业名单。这个工具作为其中一个模块，比单独卖 SaaS 给中小酒企现实得多。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233103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64523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中小酒企不会为一个网页付费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438842"/>
            <a:ext cx="7772400" cy="606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他们会为「少亏一柜」付费。所以先把误差验出来——落地价误差 5% 以内这工具就能用，差 20% 就得重做税则模型。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48097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7F6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第二单 SecondOrder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54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010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数据从哪来？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8010144" cy="10973"/>
          </a:xfrm>
          <a:prstGeom prst="rect">
            <a:avLst/>
          </a:prstGeom>
          <a:solidFill>
            <a:srgbClr val="CDC0A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55648"/>
            <a:ext cx="8010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38"/>
              </a:lnSpc>
              <a:buNone/>
            </a:pPr>
            <a:r>
              <a:rPr lang="en-US" sz="1450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税则与牌照全部来自官方公开资料，品项与用法来自我们自己整理的两份数据库。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311083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42503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税则与牌照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516822"/>
            <a:ext cx="7772400" cy="606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香港特区政府新闻公报、新加坡海关、越南 2025 年新版特别消费税法、美国 TTB 与 FDA、中国财政部与税务总局出口退税公告。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233103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64523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品项与香型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438842"/>
            <a:ext cx="7772400" cy="339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团队《贵州白酒完整数据库》56 支，每支标注资料可信度；《白酒海外入菜研究》每条标注证据强度。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8423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19843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出海漏斗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094163"/>
            <a:ext cx="7772400" cy="339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遵义综合保税区 2025 年工作总结相关报导。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48097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7F6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第二单 SecondOrder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54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010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为什么不直接做成微信机器人？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8010144" cy="10973"/>
          </a:xfrm>
          <a:prstGeom prst="rect">
            <a:avLst/>
          </a:prstGeom>
          <a:solidFill>
            <a:srgbClr val="CDC0A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55648"/>
            <a:ext cx="8010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38"/>
              </a:lnSpc>
              <a:buNone/>
            </a:pPr>
            <a:r>
              <a:rPr lang="en-US" sz="1450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因为那才是它最终该长的样子——但不是第一步该做的事。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311083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42503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产品形态现在还不对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516822"/>
            <a:ext cx="7772400" cy="339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外贸专员整天在微信里，不会为了判断一个买家去开网页。网页是 demo 的形态。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966403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97823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真正会被用起来的是企业微信机器人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172143"/>
            <a:ext cx="7772400" cy="339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转发一段对话给它，回一份决策简报。这件事写在一百天计划的第四步。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621723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53143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先做对的事，再做顺手的事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3827463"/>
            <a:ext cx="7772400" cy="606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规则库、信号权重、落地价误差这三件事没验完之前，做成机器人只是把一个还没校准的答案推到更多人面前。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48097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7F6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第二单 SecondOrder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54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010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你们知道自己还差什么吗？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8010144" cy="10973"/>
          </a:xfrm>
          <a:prstGeom prst="rect">
            <a:avLst/>
          </a:prstGeom>
          <a:solidFill>
            <a:srgbClr val="CDC0A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55648"/>
            <a:ext cx="8010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88"/>
              </a:lnSpc>
              <a:buNone/>
            </a:pPr>
            <a:r>
              <a:rPr lang="en-US" sz="1250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知道。这几条我们主动说，不等评委问。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66633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8053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信号权重还没用真实案例校准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472372"/>
            <a:ext cx="7772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64"/>
              </a:lnSpc>
              <a:buNone/>
            </a:pPr>
            <a:r>
              <a:rPr lang="en-US" sz="10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目前是团队设定值。这是上线前的第一件事。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879281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10701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美国州级酒税未计入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085020"/>
            <a:ext cx="7772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64"/>
              </a:lnSpc>
              <a:buNone/>
            </a:pPr>
            <a:r>
              <a:rPr lang="en-US" sz="10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各州差异极大，目前只算到联邦层。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491929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233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越南关税采最惠国 50%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697668"/>
            <a:ext cx="7772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64"/>
              </a:lnSpc>
              <a:buNone/>
            </a:pPr>
            <a:r>
              <a:rPr lang="en-US" sz="10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ACFTA 优惠税率须逐案核定，工具里没有替你做这个判断。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4104577"/>
            <a:ext cx="50292" cy="141732"/>
          </a:xfrm>
          <a:prstGeom prst="rect">
            <a:avLst/>
          </a:prstGeom>
          <a:solidFill>
            <a:srgbClr val="9A541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3599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对标酒款为示意价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4310316"/>
            <a:ext cx="7772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64"/>
              </a:lnSpc>
              <a:buNone/>
            </a:pPr>
            <a:r>
              <a:rPr lang="en-US" sz="1050" dirty="0">
                <a:solidFill>
                  <a:srgbClr val="574B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用于量级对照，不是即时报价；汇率为估算汇率。落地价一律为估算值，以海关核定为准。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48097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7F6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第二单 SecondOrder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54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010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6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技术选型</a:t>
            </a:r>
            <a:endParaRPr lang="en-US" sz="2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8010144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468880"/>
                <a:gridCol w="4581144"/>
              </a:tblGrid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层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选型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为什么选它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框架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Next.js 16.3.3（App Router）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前后端同仓，API Route 直接承接模型调用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UI 运行时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React 19.2.8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六个页面全部预渲染，首屏不等 JS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语言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TypeScript 5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税则与落地价是纯函数，类型是正确性的第一道防线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样式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Tailwind CSS 4（设计令牌）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整套配色走 CSS 变量，暗改亮只换令牌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3D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three.js 0.185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判定酒瓶：玻璃折射 + 液面 shader，液面高度即风险分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包管理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Bun 1.3.10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安装与构建快一个量级，现场改代码重启不用等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模型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OpenAI 兼容端点 · gpt-5-mini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只用两个 endpoint，换供应商改一个环境变量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图像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gemini-3.1-flash-image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窖池、高粱、酒曲、赤水河与本套 slide 主视觉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状态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React Context + sessionStorage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六页共享一份买家档案，刷新不丢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部署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Vercel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静态页走 CDN，两个 API Route 走 Node.js 运行时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验证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Playwright（Chrome headless）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74B4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每次改动跑三案例全链路，并检查三种视口的横向溢出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443984"/>
            <a:ext cx="8010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B7F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刻意没有引入：图表库（瀑布图、酒瓶液面全是手写 SVG／shader）、组件库、数据库（税则是编译期常量，比数据库更适合审计与 diff）。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48646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7F6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第二单 SecondOrder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6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线上体验与开源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685800" cy="27432"/>
          </a:xfrm>
          <a:prstGeom prst="rect">
            <a:avLst/>
          </a:prstGeom>
          <a:solidFill>
            <a:srgbClr val="C6912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6912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在线体验</a:t>
            </a:r>
            <a:endParaRPr lang="en-US" sz="11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2286000" y="237744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FAF6EF"/>
                </a:solidFill>
                <a:latin typeface="Menlo" pitchFamily="34" charset="0"/>
                <a:ea typeface="Menlo" pitchFamily="34" charset="-122"/>
                <a:cs typeface="Menl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https://secondorder-blond.vercel.app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2697480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B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无需注册，打开即用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6912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开源仓库</a:t>
            </a:r>
            <a:endParaRPr lang="en-US" sz="11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2286000" y="329184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FAF6EF"/>
                </a:solidFill>
                <a:latin typeface="Menlo" pitchFamily="34" charset="0"/>
                <a:ea typeface="Menlo" pitchFamily="34" charset="-122"/>
                <a:cs typeface="Menl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https://github.com/benrio0923/secondorder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3611880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B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 · Topic #Guikesong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8E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赛道二 · 传统行业 AI 解决方案　方向：AI × 白酒（营销与经销商运营 Agent）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第二单 SecondOrder — 贵州白酒出海首单决策副驾</dc:title>
  <dc:subject>PptxGenJS Presentation</dc:subject>
  <dc:creator>第二单 SecondOrder</dc:creator>
  <cp:lastModifiedBy>第二单 SecondOrder</cp:lastModifiedBy>
  <cp:revision>1</cp:revision>
  <dcterms:created xsi:type="dcterms:W3CDTF">2026-08-30T02:39:15Z</dcterms:created>
  <dcterms:modified xsi:type="dcterms:W3CDTF">2026-08-30T02:39:15Z</dcterms:modified>
</cp:coreProperties>
</file>